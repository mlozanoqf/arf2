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7" Type="http://schemas.openxmlformats.org/officeDocument/2006/relationships/viewProps" Target="viewProps.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presentations/"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Untitled</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Course syllabus. Fall 2025.</a:t>
            </a:r>
            <a:br/>
            <a:br/>
            <a:r>
              <a:rPr/>
              <a:t>Dr. Martín Lozano </a:t>
            </a:r>
            <a:r>
              <a:rPr>
                <a:latin typeface="Courier"/>
              </a:rPr>
              <a:t>&lt;martin.lozano@udem.edu&gt;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Quarto</a:t>
            </a:r>
          </a:p>
        </p:txBody>
      </p:sp>
      <p:sp>
        <p:nvSpPr>
          <p:cNvPr id="3" name="Content Placeholder 2"/>
          <p:cNvSpPr>
            <a:spLocks noGrp="1"/>
          </p:cNvSpPr>
          <p:nvPr>
            <p:ph idx="1"/>
          </p:nvPr>
        </p:nvSpPr>
        <p:spPr/>
        <p:txBody>
          <a:bodyPr/>
          <a:lstStyle/>
          <a:p>
            <a:pPr lvl="0" indent="0">
              <a:buNone/>
            </a:pPr>
            <a:r>
              <a:rPr>
                <a:latin typeface="Courier"/>
              </a:rPr>
              <a:t>&lt;!DOCTYPE html&gt;
&lt;html lang="es"&gt;
&lt;head&gt;
    &lt;meta charset="UTF-8"&gt;
    &lt;meta name="viewport" content="width=device-width, initial-scale=1.0"&gt;
    &lt;title&gt;Espacios Seguros en el Entorno Universitario&lt;/title&gt;
    &lt;style&gt;
        * {
            margin: 0;
            padding: 0;
            box-sizing: border-box;
        }
        body {
            font-family: 'Arial', sans-serif;
            background: linear-gradient(135deg, #667eea 0%, #764ba2 100%);
            min-height: 100vh;
            padding: 20px;
        }
        .infografia {
            max-width: 1200px;
            margin: 0 auto;
            background: white;
            border-radius: 20px;
            box-shadow: 0 20px 40px rgba(0,0,0,0.1);
            overflow: hidden;
        }
        .header {
            background: linear-gradient(135deg, #4CAF50, #45a049);
            color: white;
            padding: 40px;
            text-align: center;
            position: relative;
            overflow: hidden;
        }
        .header::before {
            content: '';
            position: absolute;
            top: -50%;
            left: -50%;
            width: 200%;
            height: 200%;
            background: repeating-linear-gradient(
                45deg,
                transparent,
                transparent 10px,
                rgba(255,255,255,0.1) 10px,
                rgba(255,255,255,0.1) 20px
            );
            animation: slide 20s linear infinite;
        }
        @keyframes slide {
            0% { transform: translate(-50%, -50%) rotate(0deg); }
            100% { transform: translate(-50%, -50%) rotate(360deg); }
        }
        .header h1 {
            font-size: 2.5em;
            margin-bottom: 10px;
            position: relative;
            z-index: 1;
            text-shadow: 2px 2px 4px rgba(0,0,0,0.3);
        }
        .header p {
            font-size: 1.2em;
            position: relative;
            z-index: 1;
            opacity: 0.9;
        }
        .contenido {
            padding: 40px;
        }
        .seccion {
            margin-bottom: 40px;
            padding: 30px;
            border-radius: 15px;
            background: linear-gradient(145deg, #f8f9fa, #e9ecef);
            box-shadow: 5px 5px 15px rgba(0,0,0,0.1);
            transition: transform 0.3s ease;
        }
        .seccion:hover {
            transform: translateY(-5px);
        }
        .seccion h2 {
            color: #2c3e50;
            font-size: 2em;
            margin-bottom: 20px;
            display: flex;
            align-items: center;
            gap: 15px;
        }
        .icono {
            width: 50px;
            height: 50px;
            border-radius: 50%;
            display: flex;
            align-items: center;
            justify-content: center;
            font-size: 1.5em;
            color: white;
        }
        .definicion { background: linear-gradient(135deg, #3498db, #2980b9); }
        .caracteristicas { background: linear-gradient(135deg, #e74c3c, #c0392b); }
        .genero { background: linear-gradient(135deg, #9b59b6, #8e44ad); }
        .violencia { background: linear-gradient(135deg, #f39c12, #d68910); }
        .propuestas { background: linear-gradient(135deg, #27ae60, #229954); }
        .grid {
            display: grid;
            grid-template-columns: repeat(auto-fit, minmax(300px, 1fr));
            gap: 20px;
            margin-top: 20px;
        }
        .tarjeta {
            background: white;
            padding: 25px;
            border-radius: 12px;
            box-shadow: 0 5px 15px rgba(0,0,0,0.1);
            border-left: 5px solid #4CAF50;
            transition: all 0.3s ease;
        }
        .tarjeta:hover {
            box-shadow: 0 8px 25px rgba(0,0,0,0.15);
            transform: translateY(-2px);
        }
        .tarjeta h3 {
            color: #2c3e50;
            margin-bottom: 15px;
            font-size: 1.3em;
        }
        .tarjeta p {
            color: #555;
            line-height: 1.6;
            font-size: 0.95em;
        }
        .lista {
            list-style: none;
            padding: 0;
        }
        .lista li {
            margin: 15px 0;
            padding: 15px;
            background: white;
            border-radius: 8px;
            box-shadow: 0 3px 10px rgba(0,0,0,0.1);
            position: relative;
            padding-left: 50px;
        }
        .lista li::before {
            content: '✓';
            position: absolute;
            left: 15px;
            top: 50%;
            transform: translateY(-50%);
            width: 25px;
            height: 25px;
            background: #4CAF50;
            color: white;
            border-radius: 50%;
            display: flex;
            align-items: center;
            justify-content: center;
            font-weight: bold;
        }
        .alerta {
            background: linear-gradient(135deg, #ff6b6b, #ee5a52);
            color: white;
            padding: 20px;
            border-radius: 10px;
            margin: 20px 0;
            box-shadow: 0 5px 15px rgba(255,107,107,0.3);
        }
        .alerta h4 {
            margin-bottom: 10px;
            font-size: 1.2em;
        }
        .destacado {
            background: linear-gradient(135deg, #74b9ff, #0984e3);
            color: white;
            padding: 25px;
            border-radius: 10px;
            margin: 20px 0;
            text-align: center;
            box-shadow: 0 5px 15px rgba(116,185,255,0.3);
        }
        .estadistica {
            display: flex;
            justify-content: space-around;
            margin: 30px 0;
            flex-wrap: wrap;
            gap: 20px;
        }
        .numero {
            text-align: center;
            background: white;
            padding: 25px;
            border-radius: 15px;
            box-shadow: 0 5px 15px rgba(0,0,0,0.1);
            min-width: 150px;
        }
        .numero .cifra {
            font-size: 3em;
            font-weight: bold;
            color: #e74c3c;
            display: block;
        }
        .numero .texto {
            color: #555;
            font-size: 0.9em;
            margin-top: 10px;
        }
        .footer {
            background: #2c3e50;
            color: white;
            text-align: center;
            padding: 30px;
            margin-top: 40px;
        }
        @media (max-width: 768px) {
            .header h1 { font-size: 2em; }
            .contenido { padding: 20px; }
            .seccion { padding: 20px; }
            .grid { grid-template-columns: 1fr; }
        }
    &lt;/style&gt;
&lt;/head&gt;
&lt;body&gt;
    &lt;div class="infografia"&gt;
        &lt;div class="header"&gt;
            &lt;h1&gt;🛡️ Espacios Seguros en el Entorno Universitario&lt;/h1&gt;
            &lt;p&gt;Construyendo ambientes educativos libres de violencia con perspectiva de género&lt;/p&gt;
        &lt;/div&gt;
        &lt;div class="contenido"&gt;
            &lt;div class="seccion"&gt;
                &lt;h2&gt;&lt;div class="icono definicion"&gt;📚&lt;/div&gt;¿Qué es un Espacio Seguro?&lt;/h2&gt;
                &lt;div class="destacado"&gt;
                    &lt;strong&gt;Un espacio seguro es un ambiente físico, emocional y social donde todas las personas pueden participar, aprender y desarrollarse sin temor a la discriminación, violencia o acoso, especialmente por razones de género, orientación sexual, identidad, raza, religión o cualquier otra característica personal.&lt;/strong&gt;
                &lt;/div&gt;
                &lt;div class="grid"&gt;
                    &lt;div class="tarjeta"&gt;
                        &lt;h3&gt;🔒 Seguridad Física&lt;/h3&gt;
                        &lt;p&gt;Libre de agresiones, acoso sexual, violencia física y amenazas. Incluye espacios bien iluminados, con sistemas de seguridad adecuados y protocolos claros de respuesta.&lt;/p&gt;
                    &lt;/div&gt;
                    &lt;div class="tarjeta"&gt;
                        &lt;h3&gt;💭 Seguridad Emocional&lt;/h3&gt;
                        &lt;p&gt;Ambiente donde las personas pueden expresarse sin temor al juicio, la ridiculización o la exclusión. Se fomenta el respeto mutuo y la empatía.&lt;/p&gt;
                    &lt;/div&gt;
                    &lt;div class="tarjeta"&gt;
                        &lt;h3&gt;⚖️ Seguridad Social&lt;/h3&gt;
                        &lt;p&gt;Ausencia de discriminación, estereotipos y prejuicios. Se promueve la inclusión y la equidad para todos los miembros de la comunidad universitaria.&lt;/p&gt;
                    &lt;/div&gt;
                &lt;/div&gt;
            &lt;/div&gt;
            &lt;div class="seccion"&gt;
                &lt;h2&gt;&lt;div class="icono caracteristicas"&gt;⭐&lt;/div&gt;Características de un Espacio Seguro&lt;/h2&gt;
                &lt;ul class="lista"&gt;
                    &lt;li&gt;&lt;strong&gt;Inclusivo y Diverso:&lt;/strong&gt; Valora y respeta las diferencias individuales, promoviendo la participación equitativa de todas las personas.&lt;/li&gt;
                    &lt;li&gt;&lt;strong&gt;Libre de Violencia:&lt;/strong&gt; Política de cero tolerancia hacia cualquier forma de violencia física, psicológica, sexual o simbólica.&lt;/li&gt;
                    &lt;li&gt;&lt;strong&gt;Confidencialidad:&lt;/strong&gt; Protege la privacidad y confidencialidad de quienes reportan incidentes o buscan apoyo.&lt;/li&gt;
                    &lt;li&gt;&lt;strong&gt;Accesible:&lt;/strong&gt; Garantiza el acceso físico y comunicativo para personas con discapacidades.&lt;/li&gt;
                    &lt;li&gt;&lt;strong&gt;Participativo:&lt;/strong&gt; Fomenta la participación activa y democrática en la toma de decisiones.&lt;/li&gt;
                    &lt;li&gt;&lt;strong&gt;Con Protocolos Claros:&lt;/strong&gt; Cuenta con procedimientos transparentes para prevenir, reportar y atender situaciones de violencia.&lt;/li&gt;
                &lt;/ul&gt;
            &lt;/div&gt;
            &lt;div class="seccion"&gt;
                &lt;h2&gt;&lt;div class="icono genero"&gt;⚧️&lt;/div&gt;Relación con la Perspectiva de Género&lt;/h2&gt;
                &lt;div class="grid"&gt;
                    &lt;div class="tarjeta"&gt;
                        &lt;h3&gt;🔍 Análisis de Género&lt;/h3&gt;
                        &lt;p&gt;Examina cómo las construcciones sociales de género afectan las experiencias educativas y perpetúan desigualdades en el ámbito universitario.&lt;/p&gt;
                    &lt;/div&gt;
                    &lt;div class="tarjeta"&gt;
                        &lt;h3&gt;📊 Identificación de Brechas&lt;/h3&gt;
                        &lt;p&gt;Reconoce las diferencias en oportunidades, participación y resultados académicos entre diferentes identidades de género.&lt;/p&gt;
                    &lt;/div&gt;
                    &lt;div class="tarjeta"&gt;
                        &lt;h3&gt;🎯 Intervención Específica&lt;/h3&gt;
                        &lt;p&gt;Desarrolla estrategias dirigidas a eliminar barreras y promover la equidad de género en todos los aspectos de la vida universitaria.&lt;/p&gt;
                    &lt;/div&gt;
                    &lt;div class="tarjeta"&gt;
                        &lt;h3&gt;🌈 Diversidad Sexual&lt;/h3&gt;
                        &lt;p&gt;Incluye y protege a personas LGBTIQ+, reconociendo la diversidad de identidades y orientaciones sexuales.&lt;/p&gt;
                    &lt;/div&gt;
                &lt;/div&gt;
            &lt;/div&gt;
            &lt;div class="seccion"&gt;
                &lt;h2&gt;&lt;div class="icono violencia"&gt;⚠️&lt;/div&gt;Tipos de Violencia en el Entorno Universitario&lt;/h2&gt;
                &lt;div class="alerta"&gt;
                    &lt;h4&gt;🚨 Datos Preocupantes&lt;/h4&gt;
                    &lt;div class="estadistica"&gt;
                        &lt;div class="numero"&gt;
                            &lt;span class="cifra"&gt;67%&lt;/span&gt;
                            &lt;div class="texto"&gt;de estudiantes universitarias han experimentado algún tipo de acoso sexual&lt;/div&gt;
                        &lt;/div&gt;
                        &lt;div class="numero"&gt;
                            &lt;span class="cifra"&gt;89%&lt;/span&gt;
                            &lt;div class="texto"&gt;de los casos no son reportados por temor a represalias&lt;/div&gt;
                        &lt;/div&gt;
                        &lt;div class="numero"&gt;
                            &lt;span class="cifra"&gt;43%&lt;/span&gt;
                            &lt;div class="texto"&gt;abandona o considera abandonar sus estudios debido a la violencia&lt;/div&gt;
                        &lt;/div&gt;
                    &lt;/div&gt;
                &lt;/div&gt;
                &lt;div class="grid"&gt;
                    &lt;div class="tarjeta"&gt;
                        &lt;h3&gt;🔴 Violencia Sexual&lt;/h3&gt;
                        &lt;p&gt;&lt;strong&gt;Ejemplos:&lt;/strong&gt; Acoso sexual verbal o físico, contacto no consensuado, presión para actividades sexuales, comentarios sexualizados, chantaje sexual por calificaciones.&lt;/p&gt;
                    &lt;/div&gt;
                    &lt;div class="tarjeta"&gt;
                        &lt;h3&gt;🧠 Violencia Psicológica&lt;/h3&gt;
                        &lt;p&gt;&lt;strong&gt;Ejemplos:&lt;/strong&gt; Humillaciones públicas, intimidación, amenazas, manipulación emocional, aislamiento social, cyberbullying, discriminación por género.&lt;/p&gt;
                    &lt;/div&gt;
                    &lt;div class="tarjeta"&gt;
                        &lt;h3&gt;👊 Violencia Física&lt;/h3&gt;
                        &lt;p&gt;&lt;strong&gt;Ejemplos:&lt;/strong&gt; Agresiones físicas, empujones, golpes, lanzamiento de objetos, restricción de movimientos, daño a pertenencias personales.&lt;/p&gt;
                    &lt;/div&gt;
                    &lt;div class="tarjeta"&gt;
                        &lt;h3&gt;📚 Violencia Académica&lt;/h3&gt;
                        &lt;p&gt;&lt;strong&gt;Ejemplos:&lt;/strong&gt; Sabotaje de trabajos, exclusión de grupos de estudio, robo de ideas, calificaciones injustas por prejuicios de género, negación de oportunidades.&lt;/p&gt;
                    &lt;/div&gt;
                    &lt;div class="tarjeta"&gt;
                        &lt;h3&gt;💻 Violencia Digital&lt;/h3&gt;
                        &lt;p&gt;&lt;strong&gt;Ejemplos:&lt;/strong&gt; Difusión de imágenes íntimas sin consentimiento, acoso en redes sociales, suplantación de identidad, amenazas online.&lt;/p&gt;
                    &lt;/div&gt;
                    &lt;div class="tarjeta"&gt;
                        &lt;h3&gt;⚖️ Violencia Institucional&lt;/h3&gt;
                        &lt;p&gt;&lt;strong&gt;Ejemplos:&lt;/strong&gt; Políticas discriminatorias, falta de protocolos de atención, revictimización en procesos de denuncia, impunidad sistemática.&lt;/p&gt;
                    &lt;/div&gt;
                &lt;/div&gt;
            &lt;/div&gt;
            &lt;div class="seccion"&gt;
                &lt;h2&gt;&lt;div class="icono propuestas"&gt;💡&lt;/div&gt;Propuestas para Fomentar Espacios Seguros&lt;/h2&gt;
                &lt;div class="grid"&gt;
                    &lt;div class="tarjeta"&gt;
                        &lt;h3&gt;📋 Políticas Institucionales&lt;/h3&gt;
                        &lt;p&gt;• Protocolo de atención integral a víctimas&lt;br&gt;
                        • Código de ética y conducta con perspectiva de género&lt;br&gt;
                        • Sanciones claras y proporcionales&lt;br&gt;
                        • Evaluación periódica de políticas&lt;/p&gt;
                    &lt;/div&gt;
                    &lt;div class="tarjeta"&gt;
                        &lt;h3&gt;🎓 Capacitación y Formación&lt;/h3&gt;
                        &lt;p&gt;• Talleres obligatorios sobre género y diversidad&lt;br&gt;
                        • Formación para docentes y personal administrativo&lt;br&gt;
                        • Capacitación en primeros auxilios psicológicos&lt;br&gt;
                        • Actualización constante en marcos normativos&lt;/p&gt;
                    &lt;/div&gt;
                    &lt;div class="tarjeta"&gt;
                        &lt;h3&gt;🏢 Infraestructura Segura&lt;/h3&gt;
                        &lt;p&gt;• Mejoramiento de iluminación en campus&lt;br&gt;
                        • Sistemas de videovigilancia en puntos estratégicos&lt;br&gt;
                        • Botones de pánico en espacios vulnerables&lt;br&gt;
                        • Baños inclusivos y seguros&lt;/p&gt;
                    &lt;/div&gt;
                    &lt;div class="tarjeta"&gt;
                        &lt;h3&gt;💬 Canales de Denuncia&lt;/h3&gt;
                        &lt;p&gt;• Múltiples vías de reporte (presencial, digital, anónima)&lt;br&gt;
                        • Línea de atención 24/7&lt;br&gt;
                        • Acompañamiento legal y psicológico&lt;br&gt;
                        • Seguimiento de casos&lt;/p&gt;
                    &lt;/div&gt;
                    &lt;div class="tarjeta"&gt;
                        &lt;h3&gt;👥 Participación Estudiantil&lt;/h3&gt;
                        &lt;p&gt;• Comités estudiantiles de género&lt;br&gt;
                        • Redes de apoyo entre pares&lt;br&gt;
                        • Campañas de sensibilización lideradas por estudiantes&lt;br&gt;
                        • Espacios de diálogo y reflexión&lt;/p&gt;
                    &lt;/div&gt;
                    &lt;div class="tarjeta"&gt;
                        &lt;h3&gt;📊 Monitoreo y Evaluación&lt;/h3&gt;
                        &lt;p&gt;• Encuestas periódicas de clima institucional&lt;br&gt;
                        • Indicadores de seguimiento&lt;br&gt;
                        • Auditorías externas&lt;br&gt;
                        • Informes públicos de transparencia&lt;/p&gt;
                    &lt;/div&gt;
                &lt;/div&gt;
                &lt;div class="destacado"&gt;
                    &lt;h3&gt;🌟 Compromiso Institucional&lt;/h3&gt;
                    &lt;p&gt;La construcción de espacios seguros requiere el compromiso activo de toda la comunidad universitaria: autoridades, docentes, personal administrativo y estudiantes. Solo mediante un esfuerzo conjunto y sostenido podremos garantizar ambientes educativos verdaderamente inclusivos y libres de violencia.&lt;/p&gt;
                &lt;/div&gt;
            &lt;/div&gt;
        &lt;/div&gt;
        &lt;div class="footer"&gt;
            &lt;p&gt;💚 &lt;strong&gt;Juntos construimos espacios seguros para todas las personas&lt;/strong&gt;&lt;/p&gt;
            &lt;p&gt;La educación superior debe ser un derecho accesible y seguro para todos y todas&lt;/p&gt;
        &lt;/div&gt;
    &lt;/div&gt;
&lt;/body&gt;
&lt;/html&gt;</a:t>
            </a:r>
          </a:p>
          <a:p>
            <a:pPr lvl="0" indent="0" marL="0">
              <a:buNone/>
            </a:pPr>
            <a:r>
              <a:rPr/>
              <a:t>Quarto enables you to weave together content and executable code into a finished presentation. To learn more about Quarto presentations see </a:t>
            </a:r>
            <a:r>
              <a:rPr>
                <a:hlinkClick r:id="rId2"/>
              </a:rPr>
              <a:t>https://quarto.org/docs/presentations/</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Bullets</a:t>
            </a:r>
          </a:p>
        </p:txBody>
      </p:sp>
      <p:sp>
        <p:nvSpPr>
          <p:cNvPr id="3" name="Content Placeholder 2"/>
          <p:cNvSpPr>
            <a:spLocks noGrp="1"/>
          </p:cNvSpPr>
          <p:nvPr>
            <p:ph idx="1"/>
          </p:nvPr>
        </p:nvSpPr>
        <p:spPr/>
        <p:txBody>
          <a:bodyPr/>
          <a:lstStyle/>
          <a:p>
            <a:pPr lvl="0" indent="0" marL="0">
              <a:buNone/>
            </a:pPr>
            <a:r>
              <a:rPr/>
              <a:t>When you click the </a:t>
            </a:r>
            <a:r>
              <a:rPr b="1"/>
              <a:t>Render</a:t>
            </a:r>
            <a:r>
              <a:rPr/>
              <a:t> button a document will be generated that includes:</a:t>
            </a:r>
          </a:p>
          <a:p>
            <a:pPr lvl="0"/>
            <a:r>
              <a:rPr/>
              <a:t>Content authored with markdown</a:t>
            </a:r>
          </a:p>
          <a:p>
            <a:pPr lvl="0"/>
            <a:r>
              <a:rPr/>
              <a:t>Output from executable code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Code</a:t>
            </a:r>
          </a:p>
        </p:txBody>
      </p:sp>
      <p:sp>
        <p:nvSpPr>
          <p:cNvPr id="3" name="Content Placeholder 2"/>
          <p:cNvSpPr>
            <a:spLocks noGrp="1"/>
          </p:cNvSpPr>
          <p:nvPr>
            <p:ph idx="1"/>
          </p:nvPr>
        </p:nvSpPr>
        <p:spPr/>
        <p:txBody>
          <a:bodyPr/>
          <a:lstStyle/>
          <a:p>
            <a:pPr lvl="0" indent="0" marL="0">
              <a:buNone/>
            </a:pPr>
            <a:r>
              <a:rPr/>
              <a:t>When you click the </a:t>
            </a:r>
            <a:r>
              <a:rPr b="1"/>
              <a:t>Render</a:t>
            </a:r>
            <a:r>
              <a:rPr/>
              <a:t> button a presentation will be generated that includes both content and the output of embedded code. You can embed code like this:</a:t>
            </a:r>
          </a:p>
          <a:p>
            <a:pPr lvl="0" indent="0">
              <a:buNone/>
            </a:pPr>
            <a:r>
              <a:rPr>
                <a:latin typeface="Courier"/>
              </a:rPr>
              <a:t>[1] 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dc:title>
  <dc:creator>Dr. Martín Lozano &lt;martin.lozano@udem.edu&gt;</dc:creator>
  <cp:keywords/>
  <dcterms:created xsi:type="dcterms:W3CDTF">2025-08-17T02:19:11Z</dcterms:created>
  <dcterms:modified xsi:type="dcterms:W3CDTF">2025-08-17T02:19:11Z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A course syllabus is an academic document containing relevant information for students. This document serves as your ultimate guide to successfully completing this course. Please read it regularly and carefully. Within this document, you will find a comprehensive description of the course goals, rules, objectives, recommendations, grading details, a detailed schedule, activities, resources, references, and learning outcomes. The objective of this document is to provide you with complete certainty regarding what to expect from this course, starting from day 1 until the final exam. Based on my experience, reading this syllabus is positively correlated with students’ performance.</vt:lpwstr>
  </property>
  <property fmtid="{D5CDD505-2E9C-101B-9397-08002B2CF9AE}" pid="3" name="authors">
    <vt:lpwstr/>
  </property>
  <property fmtid="{D5CDD505-2E9C-101B-9397-08002B2CF9AE}" pid="4" name="biblio-config">
    <vt:lpwstr>True</vt:lpwstr>
  </property>
  <property fmtid="{D5CDD505-2E9C-101B-9397-08002B2CF9AE}" pid="5" name="bibliography">
    <vt:lpwstr/>
  </property>
  <property fmtid="{D5CDD505-2E9C-101B-9397-08002B2CF9AE}" pid="6" name="by-author">
    <vt:lpwstr/>
  </property>
  <property fmtid="{D5CDD505-2E9C-101B-9397-08002B2CF9AE}" pid="7" name="date-format">
    <vt:lpwstr>MMMM D, YYYY, HH:mm:ss a.</vt:lpwstr>
  </property>
  <property fmtid="{D5CDD505-2E9C-101B-9397-08002B2CF9AE}" pid="8" name="date-modified">
    <vt:lpwstr>August 16, 2025, 20:19:11 pm.</vt:lpwstr>
  </property>
  <property fmtid="{D5CDD505-2E9C-101B-9397-08002B2CF9AE}" pid="9" name="editor">
    <vt:lpwstr>visual</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subtitle">
    <vt:lpwstr>Course syllabus. Fall 2025.</vt:lpwstr>
  </property>
  <property fmtid="{D5CDD505-2E9C-101B-9397-08002B2CF9AE}" pid="15" name="theme">
    <vt:lpwstr/>
  </property>
  <property fmtid="{D5CDD505-2E9C-101B-9397-08002B2CF9AE}" pid="16" name="toc-title">
    <vt:lpwstr>Table of contents</vt:lpwstr>
  </property>
</Properties>
</file>